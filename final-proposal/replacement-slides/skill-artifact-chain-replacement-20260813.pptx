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eef6c002f4ee3" /><Relationship Type="http://schemas.openxmlformats.org/officeDocument/2006/relationships/extended-properties" Target="/docProps/app.xml" Id="Rbc2bf27dd8de49fb" /><Relationship Type="http://schemas.openxmlformats.org/officeDocument/2006/relationships/officeDocument" Target="/ppt/presentation.xml" Id="R6cf2e82f44d5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a77a27484440a"/>
  </p:sldMasterIdLst>
  <p:notesMasterIdLst>
    <p:notesMasterId xmlns:r="http://schemas.openxmlformats.org/officeDocument/2006/relationships" r:id="Rf0901d28b17b4ec8"/>
  </p:notesMasterIdLst>
  <p:sldIdLst>
    <p:sldId xmlns:r="http://schemas.openxmlformats.org/officeDocument/2006/relationships" id="256" r:id="Rf4528b7fab9a4f64"/>
  </p:sldIdLst>
  <p:sldSz cx="10668000" cy="600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2f38918edb4d57" /><Relationship Type="http://schemas.openxmlformats.org/officeDocument/2006/relationships/slideMaster" Target="/ppt/slideMasters/slideMaster1.xml" Id="Rec9a77a27484440a" /><Relationship Type="http://schemas.openxmlformats.org/officeDocument/2006/relationships/notesMaster" Target="/ppt/notesMasters/notesMaster1.xml" Id="Rf0901d28b17b4ec8" /><Relationship Type="http://schemas.openxmlformats.org/officeDocument/2006/relationships/presProps" Target="/ppt/presProps.xml" Id="Rc1099bc5a0164744" /><Relationship Type="http://schemas.openxmlformats.org/officeDocument/2006/relationships/tableStyles" Target="/ppt/tableStyles.xml" Id="Rb35945bc2f9e4fec" /><Relationship Type="http://schemas.openxmlformats.org/officeDocument/2006/relationships/slide" Target="/ppt/slides/slide1.xml" Id="Rf4528b7fab9a4f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e7d713aa8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vidence Chain">
      <a:dk1>
        <a:srgbClr val="000000"/>
      </a:dk1>
      <a:lt1>
        <a:srgbClr val="FFFFFF"/>
      </a:lt1>
      <a:dk2>
        <a:srgbClr val="111827"/>
      </a:dk2>
      <a:lt2>
        <a:srgbClr val="E5E7EB"/>
      </a:lt2>
      <a:accent1>
        <a:srgbClr val="A7F3D0"/>
      </a:accent1>
      <a:accent2>
        <a:srgbClr val="FDE68A"/>
      </a:accent2>
      <a:accent3>
        <a:srgbClr val="93C5FD"/>
      </a:accent3>
      <a:accent4>
        <a:srgbClr val="F7A8D8"/>
      </a:accent4>
      <a:accent5>
        <a:srgbClr val="C4B5FD"/>
      </a:accent5>
      <a:accent6>
        <a:srgbClr val="FEF3C7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vidence Chai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0" dist="55540" dir="3542175">
              <a:srgbClr val="000000">
                <a:alpha val="100000"/>
              </a:srgbClr>
            </a:outerShdw>
          </a:effectLst>
        </a:effectStyle>
        <a:effectStyle>
          <a:effectLst>
            <a:outerShdw blurRad="0" dist="68686" dir="3378596">
              <a:srgbClr val="000000">
                <a:alpha val="100000"/>
              </a:srgbClr>
            </a:outerShdw>
          </a:effectLst>
        </a:effectStyle>
        <a:effectStyle>
          <a:effectLst>
            <a:outerShdw blurRad="0" dist="47625" dir="3187806">
              <a:srgbClr val="000000">
                <a:alpha val="100000"/>
              </a:srgbClr>
            </a:outerShdw>
          </a:effectLst>
        </a:effectStyle>
        <a:effectStyle>
          <a:effectLst>
            <a:outerShdw blurRad="0" dist="34343" dir="3378596">
              <a:srgbClr val="000000">
                <a:alpha val="10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4f3d515cd4c06" /><Relationship Type="http://schemas.openxmlformats.org/officeDocument/2006/relationships/notesMaster" Target="/ppt/notesMasters/notesMaster1.xml" Id="R8aa8cb137c2545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此頁取代舊的專案樹狀圖。講法重點：不要把它講成檔案清單，要講成 AI 工作流程的證據鏈。</a:t>
            </a:r>
          </a:p>
          <a:p xmlns:a="http://schemas.openxmlformats.org/drawingml/2006/main">
            <a:r>
              <a:t>真實 repo 來源：radar-redesign/agentic_cloud_radar/ 包含 s1.py、s2.py、s3.py、s4.py、s5.py、s4_inventory.py、pipeline_timing.py；radar-redesign/skills/ 下五個 Skill 各有 SKILL.md 與 agents/openai.yaml；S3 Files 成功案例在 radar-redesign/reference-runs/s3-files-20260731-manual-console/；可重跑測試在 radar-redesign/tests/。</a:t>
            </a:r>
          </a:p>
          <a:p xmlns:a="http://schemas.openxmlformats.org/drawingml/2006/main">
            <a:r>
              <a:t>可講的一句話：這套設計把 AI 的判斷拆成可驗證的證據檔，人類只需要在候選選定與成本核准兩個高風險點介入，最後 Skill 5 才把證據整理成可讀結論。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78292e48e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c79c237b2740ca" /><Relationship Type="http://schemas.openxmlformats.org/officeDocument/2006/relationships/slideLayout" Target="/ppt/slideLayouts/slideLayout1.xml" Id="Rdf1d5c82cbaa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d5c82cbaa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vidence Chain">
      <a:dk1>
        <a:srgbClr val="000000"/>
      </a:dk1>
      <a:lt1>
        <a:srgbClr val="FFFFFF"/>
      </a:lt1>
      <a:dk2>
        <a:srgbClr val="111827"/>
      </a:dk2>
      <a:lt2>
        <a:srgbClr val="E5E7EB"/>
      </a:lt2>
      <a:accent1>
        <a:srgbClr val="A7F3D0"/>
      </a:accent1>
      <a:accent2>
        <a:srgbClr val="FDE68A"/>
      </a:accent2>
      <a:accent3>
        <a:srgbClr val="93C5FD"/>
      </a:accent3>
      <a:accent4>
        <a:srgbClr val="F7A8D8"/>
      </a:accent4>
      <a:accent5>
        <a:srgbClr val="C4B5FD"/>
      </a:accent5>
      <a:accent6>
        <a:srgbClr val="FEF3C7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vidence Chai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0" dist="55540" dir="3542175">
              <a:srgbClr val="000000">
                <a:alpha val="100000"/>
              </a:srgbClr>
            </a:outerShdw>
          </a:effectLst>
        </a:effectStyle>
        <a:effectStyle>
          <a:effectLst>
            <a:outerShdw blurRad="0" dist="68686" dir="3378596">
              <a:srgbClr val="000000">
                <a:alpha val="100000"/>
              </a:srgbClr>
            </a:outerShdw>
          </a:effectLst>
        </a:effectStyle>
        <a:effectStyle>
          <a:effectLst>
            <a:outerShdw blurRad="0" dist="47625" dir="3187806">
              <a:srgbClr val="000000">
                <a:alpha val="100000"/>
              </a:srgbClr>
            </a:outerShdw>
          </a:effectLst>
        </a:effectStyle>
        <a:effectStyle>
          <a:effectLst>
            <a:outerShdw blurRad="0" dist="34343" dir="3378596">
              <a:srgbClr val="000000">
                <a:alpha val="10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7cd96ee964944" /><Relationship Type="http://schemas.openxmlformats.org/officeDocument/2006/relationships/notesSlide" Target="/ppt/notesSlides/notesSlide1.xml" Id="R879ea608247043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2CD04A-BEF9-4C58-9B08-B520002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0001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A7F3D0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總表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2510F-D6A4-473B-9CD1-D94C8BA8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"/>
            <a:ext cx="830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五個 Skill 不是檔案清單，是可交接的證據鏈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8DA8C-0B93-4E84-B231-42F9117E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810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同一個候選從掃描、比較、評估、驗證到報告，每一步都留下證據檔；人類只在候選與成本風險處做決策。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BDF32-2D09-4F46-9CA3-5A78627A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51054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9729B-45A3-4AE6-BBC0-88C28EB5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1526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7F3D0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8126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repo 裡真正支撐這頁的四層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C1635-D62A-40FB-94FA-008EF5FF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724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4CF5E-EF72-47BA-AC74-AC5997EE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1219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4983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核心流程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0967F-A5A9-454B-B681-253311E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14525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agentic_cloud_radar/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s1.py, s2.py, s3.py, s4.py, s5.py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s4_inventory.py, pipeline_timing.py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0981A-F3B1-421D-B7E3-24E3E29F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724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24CC9-5B88-4FA7-BE94-87DC7FB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219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4983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Skill 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DED67-23FB-417D-8223-F58BB0DC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71775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skills/*/SKILL.md + agents/openai.yaml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scan / compare / evaluate / validate /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148D2-AD5B-4C46-A485-E918E049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4724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58C9D-1430-4B94-BFA9-002CDE53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1219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4983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成功案例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F4CB1-FD8B-4E66-8AA0-1F533C0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29025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reference-runs/s3-files-20260731-manual-console/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s1.json -&gt; s5-report-regenerated-20260813.md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7B224-BAD5-4361-B90B-69AA336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tests/：test_s5.py、test_s3_s4.py、test_s4_inventory.py 等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用途：讓同一套規則和報告格式可以被重跑驗證。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CDCF7-F4ED-4D86-9AA5-8AE10236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181100"/>
            <a:ext cx="43053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698FC-0095-4E4B-971C-88325416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33500"/>
            <a:ext cx="20002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8126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證據檔鏈與人類關卡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2E267-9C68-46B4-940F-6E3C98B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3733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A7F3D0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C399E-3789-41E4-AE6C-F3233210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s1.json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AB824-55A0-4C74-BB5D-74894130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來源與候選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ED7C1-CD61-494C-A061-A4BD363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3733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A7F3D0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C4F1E-D9CB-496C-AA86-4F5E5086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s2.json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02D9F-17FE-4213-8A2D-17983A7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比較後保留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CD92B-63C2-4DF5-A48B-87D2FA9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31623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A8D8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99960-CDB5-4846-AE6F-9BC5DE7A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人類選定唯一候選：AI 不能自己往下部署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4CDBC-7D36-497B-AB4E-7BE14EE4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3733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53E94-04C6-48C1-B336-9E0D7F6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70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s3.json + HTML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32D7A-E306-47D9-A54A-D7DAB79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分數、成本、架構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04395-C3D2-4D9B-ABAB-9696CF7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31623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A8D8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F9506-89C5-47C1-A263-EED9C07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具名核准 + 成本上限：先決策再驗證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132DEE-E90D-4D92-AE77-1E7CF58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3733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7976F-0F2D-43F8-875E-F906452B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00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s4-runtime-cleaned.json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1B55C8-386B-4F25-96E0-74D9D36D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執行 / 清理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9A555-9DCB-40AC-8D4F-70D250E0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3733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A8D8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D695C9-3BF8-4C11-824C-B1CAB5F2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767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s5-report-20260813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B419F8-C5BE-46EB-8538-453A3CC5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結論 + 延伸案例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EC4E7A-CDCC-423D-B669-139F64DC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7981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5613EE-9141-4BC5-9FAB-664CDD0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752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這張圖要講的不是資料夾，而是：AI 的判斷必須被證據檔接住；人類決定候選與成本，AI 不能跳過證據直接部署。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BD6994-7E76-4058-9AB6-C436D229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14950"/>
            <a:ext cx="1276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970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定位：交接證據鏈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33ADA7-E66A-4CC2-8447-BBDC1D7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依據真實 repo：agentic_cloud_radar/、skills/、reference-runs/s3-files-20260731-manual-console/、tests/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90D807-E10B-4598-A5B3-9774768F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61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3957782"/>
      </p:ext>
    </p:extLst>
  </p:cSld>
</p:sld>
</file>

<file path=ppt/theme/theme1.xml><?xml version="1.0" encoding="utf-8"?>
<a:theme xmlns:a="http://schemas.openxmlformats.org/drawingml/2006/main" name="ChatGPT">
  <a:themeElements>
    <a:clrScheme name="Evidence Chain">
      <a:dk1>
        <a:srgbClr val="000000"/>
      </a:dk1>
      <a:lt1>
        <a:srgbClr val="FFFFFF"/>
      </a:lt1>
      <a:dk2>
        <a:srgbClr val="111827"/>
      </a:dk2>
      <a:lt2>
        <a:srgbClr val="E5E7EB"/>
      </a:lt2>
      <a:accent1>
        <a:srgbClr val="A7F3D0"/>
      </a:accent1>
      <a:accent2>
        <a:srgbClr val="FDE68A"/>
      </a:accent2>
      <a:accent3>
        <a:srgbClr val="93C5FD"/>
      </a:accent3>
      <a:accent4>
        <a:srgbClr val="F7A8D8"/>
      </a:accent4>
      <a:accent5>
        <a:srgbClr val="C4B5FD"/>
      </a:accent5>
      <a:accent6>
        <a:srgbClr val="FEF3C7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vidence Chai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0" dist="55540" dir="3542175">
              <a:srgbClr val="000000">
                <a:alpha val="100000"/>
              </a:srgbClr>
            </a:outerShdw>
          </a:effectLst>
        </a:effectStyle>
        <a:effectStyle>
          <a:effectLst>
            <a:outerShdw blurRad="0" dist="68686" dir="3378596">
              <a:srgbClr val="000000">
                <a:alpha val="100000"/>
              </a:srgbClr>
            </a:outerShdw>
          </a:effectLst>
        </a:effectStyle>
        <a:effectStyle>
          <a:effectLst>
            <a:outerShdw blurRad="0" dist="47625" dir="3187806">
              <a:srgbClr val="000000">
                <a:alpha val="100000"/>
              </a:srgbClr>
            </a:outerShdw>
          </a:effectLst>
        </a:effectStyle>
        <a:effectStyle>
          <a:effectLst>
            <a:outerShdw blurRad="0" dist="34343" dir="3378596">
              <a:srgbClr val="000000">
                <a:alpha val="10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2026-08-13T02:41:10.1180000Z</dcterms:created>
  <dcterms:modified xsi:type="dcterms:W3CDTF">2026-08-13T02:41:10.1180000Z</dcterms:modified>
</coreProperties>
</file>